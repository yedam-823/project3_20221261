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73" r:id="rId3"/>
    <p:sldId id="274" r:id="rId4"/>
    <p:sldId id="282" r:id="rId5"/>
    <p:sldId id="275" r:id="rId6"/>
    <p:sldId id="283" r:id="rId7"/>
    <p:sldId id="280" r:id="rId8"/>
    <p:sldId id="277" r:id="rId9"/>
    <p:sldId id="278" r:id="rId10"/>
    <p:sldId id="279" r:id="rId11"/>
    <p:sldId id="268" r:id="rId12"/>
    <p:sldId id="281" r:id="rId13"/>
    <p:sldId id="262" r:id="rId14"/>
    <p:sldId id="285" r:id="rId15"/>
    <p:sldId id="288" r:id="rId16"/>
    <p:sldId id="284" r:id="rId17"/>
    <p:sldId id="286" r:id="rId18"/>
    <p:sldId id="287" r:id="rId19"/>
    <p:sldId id="289" r:id="rId20"/>
    <p:sldId id="265" r:id="rId21"/>
    <p:sldId id="26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edam Lee" initials="YL" lastIdx="2" clrIdx="0">
    <p:extLst>
      <p:ext uri="{19B8F6BF-5375-455C-9EA6-DF929625EA0E}">
        <p15:presenceInfo xmlns:p15="http://schemas.microsoft.com/office/powerpoint/2012/main" userId="b5896997e03ae3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 autoAdjust="0"/>
    <p:restoredTop sz="84316" autoAdjust="0"/>
  </p:normalViewPr>
  <p:slideViewPr>
    <p:cSldViewPr snapToGrid="0">
      <p:cViewPr>
        <p:scale>
          <a:sx n="52" d="100"/>
          <a:sy n="52" d="100"/>
        </p:scale>
        <p:origin x="1570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718CF-57F6-46AE-8F4B-12B6A739CE0D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C76E2-BB8C-45C5-9B63-A6E577FB0F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58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684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677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456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162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04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668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019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270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84EC1-BDD8-8DA8-2F60-8C14F6609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7A1E5A-2EDF-481B-C4DA-41D353EF9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A3070C-13AC-E59B-54F4-A179CC7F6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30B179-C107-9F5A-74B3-BE4384704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413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921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549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A4898-448D-F7B8-775B-A73CCF75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883B98-5617-7BB3-9F1B-9F0455B85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1C1A4C-9807-274D-07D8-078524E7C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60841-EB2B-35B4-1B69-C0758513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D093C9-09D1-AD18-ECC5-A7B5042C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6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F8D3D-32EF-D4E7-BF90-92D0774C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9A9D3-2D16-A1BB-AAB9-22807529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07933-B386-6797-949B-BDC5E3D7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B2EA7-75A4-8DB0-C4A9-FF16659A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87E00-4049-EB86-71E3-DC92AB22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7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CA8E5-C748-2314-1779-7E4B1DFA7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85137D-9D88-579F-BD4F-3BC0EFB3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E18C4-F9B9-9D30-C20A-72DF109C6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33D984-19A2-218C-0330-CA07758C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58C62C-C857-79F8-805E-FDC449BC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16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C0A9B-293F-73BE-1C90-B3080B203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519ECF-FF04-1B9F-805E-60BE93B84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5F6837-8B7F-E4F3-7D78-45900A7EC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E38E4B-7032-1739-3B61-E277C5E5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16401E-52F2-E4DC-4A62-8AF04729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389399-E921-DE2D-AA3E-DF8BAFEF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52026-341B-6224-D4C4-5BE4834C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DE48C-4B3D-3725-68C6-952437CBC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F18F82-EB6D-F18D-5B77-BA0D1542E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65B4F3-AD1C-7BA2-9690-931B60C43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309749-E547-8F73-825A-AC00DBDA4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0DDD6C-D195-1B5F-6A24-A4357CF7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8DC2EC-9FB6-7BB9-7251-47AE9D52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54A622-E334-D223-FB60-69A37731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31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E6860-9FD4-319F-D502-F47FD8D0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D5A5AD-3C60-F689-64FF-B52132EE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6488DD-8A1F-DE2B-15B4-A7DD2778A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C6D375-9EF5-31B7-2717-67153AEF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60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31E719-C61C-5A33-D894-F6127F08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E3D037-444E-C542-8D09-4693E410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DD6BEC-A453-EC9D-B7FF-7A5B1F55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24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60FAC-72F5-D47C-7880-8875F55AC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CDF5C7-4C19-1D01-FBAA-DABE450DE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A7E0EE-DE39-51FA-4E4E-C90801333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19C04-902A-A65E-920E-618AFD7A1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BC110D-AB7A-BE95-358B-48FE630C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54C283-9A83-DB79-5202-B12BB5C2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62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A28B1-0020-65DE-8305-2954B307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8A23EB-96F4-23C3-A315-182D8ED91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105049-DC59-61BC-9AEC-BA8E7421B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CC16DC-BB97-4175-C76A-360045EC8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A6B9FE-20F5-3908-E372-D964404A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69218C-82D8-36E0-5C6C-2B401427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06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01E67-35AB-53BE-9BB5-AAA0681B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C492BC-D4DC-AA01-DA21-FD038711C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622D1-857C-50EA-8744-E467204F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8416-4235-04DD-5C69-21B55E23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94FD55-23FA-38C1-C371-61FDF491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14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7A11DF-3698-9F23-375B-EECCE05A1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E0AAFD-3C79-2151-808C-6B3D3855D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9915D-2D61-17C6-F326-425D788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D9EC7B-E843-7F88-83C3-5931D576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BFFDF8-11F6-6210-1F92-C99109EB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59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713342-989D-944B-9312-529FD71C7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DD4B2E-AAD2-3945-6E57-18638AD0D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369815-1C16-4DD7-E1BF-5ECF6FE13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3B061-5381-43A5-96CD-8B98134AA44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019020-DE6B-9891-6ADC-B02402FC4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9B6D7E-9651-14AA-F892-7DD2AE55B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01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55AF-D44B-4E55-E04F-A8FC6BD0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2170BA7A-9CAF-6743-F738-66BD72D61F85}"/>
              </a:ext>
            </a:extLst>
          </p:cNvPr>
          <p:cNvSpPr/>
          <p:nvPr/>
        </p:nvSpPr>
        <p:spPr>
          <a:xfrm>
            <a:off x="135080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28CFA2B7-0E34-A514-3C92-680CCBD3457A}"/>
              </a:ext>
            </a:extLst>
          </p:cNvPr>
          <p:cNvSpPr txBox="1">
            <a:spLocks/>
          </p:cNvSpPr>
          <p:nvPr/>
        </p:nvSpPr>
        <p:spPr>
          <a:xfrm>
            <a:off x="718508" y="846464"/>
            <a:ext cx="7561334" cy="1818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44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Bottle Flip</a:t>
            </a:r>
          </a:p>
          <a:p>
            <a:pPr algn="l">
              <a:lnSpc>
                <a:spcPct val="150000"/>
              </a:lnSpc>
            </a:pPr>
            <a:r>
              <a:rPr lang="en-US" altLang="ko-KR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- </a:t>
            </a:r>
            <a:r>
              <a:rPr lang="ko-KR" altLang="en-US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성공을 위한 최적의 물 양은</a:t>
            </a:r>
            <a:r>
              <a:rPr lang="en-US" altLang="ko-KR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?</a:t>
            </a:r>
            <a:endParaRPr lang="en-US" altLang="ko-KR" sz="44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596ED6-880E-4A00-4475-5C08C7A59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1852" y="6118813"/>
            <a:ext cx="2556387" cy="447538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20221261 </a:t>
            </a:r>
            <a:r>
              <a:rPr lang="ko-KR" altLang="en-US" sz="18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이예담</a:t>
            </a:r>
            <a:endParaRPr lang="ko-KR" altLang="en-US" sz="18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56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0B9-CC3D-FF59-4B53-0899D6E1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A8D76E25-E2EB-7E6D-0BCF-EF2DC05B6885}"/>
              </a:ext>
            </a:extLst>
          </p:cNvPr>
          <p:cNvSpPr/>
          <p:nvPr/>
        </p:nvSpPr>
        <p:spPr>
          <a:xfrm>
            <a:off x="136813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CE3141F6-9B00-97F0-2E9E-5FAA96AC4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6332730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Bottle flip challenge</a:t>
            </a:r>
            <a:endParaRPr lang="ko-KR" altLang="en-US" sz="3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951DAB0-7CAF-5433-7902-DA3C7B0E4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3"/>
          <a:stretch>
            <a:fillRect/>
          </a:stretch>
        </p:blipFill>
        <p:spPr>
          <a:xfrm>
            <a:off x="822401" y="1817802"/>
            <a:ext cx="5419011" cy="32316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BBD6D9B-2E4D-0DE5-6004-D2C5A1FFD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722" y="1817802"/>
            <a:ext cx="4888664" cy="323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732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B7DD9008-0B75-3904-AB2C-E5CA9BC2D20F}"/>
              </a:ext>
            </a:extLst>
          </p:cNvPr>
          <p:cNvSpPr/>
          <p:nvPr/>
        </p:nvSpPr>
        <p:spPr>
          <a:xfrm>
            <a:off x="135082" y="114300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B3AD66D9-8B69-BF7C-F5C3-3F34CF290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기본 가정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2C08A69D-E6E9-E4F2-3FBC-B733FD496032}"/>
              </a:ext>
            </a:extLst>
          </p:cNvPr>
          <p:cNvSpPr txBox="1">
            <a:spLocks/>
          </p:cNvSpPr>
          <p:nvPr/>
        </p:nvSpPr>
        <p:spPr>
          <a:xfrm>
            <a:off x="942846" y="1257070"/>
            <a:ext cx="10302844" cy="5008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운동 상황에서 물리적 모델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병의 내부 축을 따라 움직이는 단일한 질점으로 가정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   =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유체 상태의 계산은 복잡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Bottle flip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을 구현하는 가장 간단한 모델 설정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병이 도는 과정에서의 공기 저항 무시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병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1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차원 균일한 막대로 가정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제어 변수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물을 얼마나 채웠는가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물이 채워진 비율을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10~90%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범위에서 계산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얼마나 빠르게 회전 시키는가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초기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회전 속도를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5~25 rad/s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범위에서 계산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endParaRPr lang="ko-KR" altLang="en-US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3FE9B2-81A6-CBBD-A1ED-D1A7E9F8CB34}"/>
              </a:ext>
            </a:extLst>
          </p:cNvPr>
          <p:cNvSpPr/>
          <p:nvPr/>
        </p:nvSpPr>
        <p:spPr>
          <a:xfrm>
            <a:off x="9964873" y="1575271"/>
            <a:ext cx="45719" cy="200338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BE7106B-D087-509D-2318-24706C9433D2}"/>
              </a:ext>
            </a:extLst>
          </p:cNvPr>
          <p:cNvCxnSpPr/>
          <p:nvPr/>
        </p:nvCxnSpPr>
        <p:spPr>
          <a:xfrm>
            <a:off x="10798193" y="1575271"/>
            <a:ext cx="0" cy="20033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376792B-36E8-894C-1726-CB47071CA478}"/>
              </a:ext>
            </a:extLst>
          </p:cNvPr>
          <p:cNvSpPr txBox="1"/>
          <p:nvPr/>
        </p:nvSpPr>
        <p:spPr>
          <a:xfrm>
            <a:off x="10838443" y="2358986"/>
            <a:ext cx="80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2L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98EBEEC-B5F3-9648-7BD1-311FD8A8D7ED}"/>
              </a:ext>
            </a:extLst>
          </p:cNvPr>
          <p:cNvCxnSpPr/>
          <p:nvPr/>
        </p:nvCxnSpPr>
        <p:spPr>
          <a:xfrm flipH="1">
            <a:off x="9642055" y="2576965"/>
            <a:ext cx="66740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334745-9BDF-E5FF-5C41-093540819FB7}"/>
              </a:ext>
            </a:extLst>
          </p:cNvPr>
          <p:cNvSpPr txBox="1"/>
          <p:nvPr/>
        </p:nvSpPr>
        <p:spPr>
          <a:xfrm>
            <a:off x="9321489" y="2402809"/>
            <a:ext cx="80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775900E-752C-7126-BB69-4EA1B04B5015}"/>
              </a:ext>
            </a:extLst>
          </p:cNvPr>
          <p:cNvCxnSpPr/>
          <p:nvPr/>
        </p:nvCxnSpPr>
        <p:spPr>
          <a:xfrm flipH="1">
            <a:off x="9642055" y="1562791"/>
            <a:ext cx="66740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04F5BD-F77F-CA9D-877F-6982D0171892}"/>
              </a:ext>
            </a:extLst>
          </p:cNvPr>
          <p:cNvSpPr txBox="1"/>
          <p:nvPr/>
        </p:nvSpPr>
        <p:spPr>
          <a:xfrm>
            <a:off x="9321489" y="1388635"/>
            <a:ext cx="80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L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A01E6DD-6D03-0E51-DE11-BD4295434BED}"/>
              </a:ext>
            </a:extLst>
          </p:cNvPr>
          <p:cNvCxnSpPr/>
          <p:nvPr/>
        </p:nvCxnSpPr>
        <p:spPr>
          <a:xfrm flipH="1">
            <a:off x="9692974" y="3591139"/>
            <a:ext cx="66740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CE2A70-AAE1-751D-C455-11810AF70748}"/>
              </a:ext>
            </a:extLst>
          </p:cNvPr>
          <p:cNvSpPr txBox="1"/>
          <p:nvPr/>
        </p:nvSpPr>
        <p:spPr>
          <a:xfrm>
            <a:off x="9298838" y="3416983"/>
            <a:ext cx="80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-L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9262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6B6BE-3D32-D595-286F-012F657B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161F3F4A-B1D4-B66E-7FE9-0E92CBCA19E1}"/>
              </a:ext>
            </a:extLst>
          </p:cNvPr>
          <p:cNvSpPr/>
          <p:nvPr/>
        </p:nvSpPr>
        <p:spPr>
          <a:xfrm>
            <a:off x="135082" y="114300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717C7556-5C4F-5BEC-9A37-58A1D007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기본 가정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20D4B183-7E27-5236-30C0-A0A46DED2699}"/>
              </a:ext>
            </a:extLst>
          </p:cNvPr>
          <p:cNvSpPr txBox="1">
            <a:spLocks/>
          </p:cNvSpPr>
          <p:nvPr/>
        </p:nvSpPr>
        <p:spPr>
          <a:xfrm>
            <a:off x="942846" y="1257070"/>
            <a:ext cx="10302844" cy="5008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AutoNum type="arabicPeriod" startAt="3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실제 상황과 유사하게 보정 사용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k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탄성 계수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시뮬레이션 상황에서 공이 벽을 뚫고 나가지 않도록 병의 끝에서 밀어내는 힘 설정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충분히 크게 설정해야 물이 병을 뚫고 나가는 것을 막을 수 있음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너무 크게 설정하면 계산 어려움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c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감쇠 계수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실제 상황에서는 물이 바닥에 닿으면서 에너지를 잃는 </a:t>
            </a:r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비탄성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충돌이 </a:t>
            </a:r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일어남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이를 적용하기 위해 속도에 비례하게 저항력을 설정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충돌 상황의 에너지의 손실 적용 가능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endParaRPr lang="ko-KR" altLang="en-US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919E2-840A-E850-2F17-12BD28760797}"/>
                  </a:ext>
                </a:extLst>
              </p:cNvPr>
              <p:cNvSpPr txBox="1"/>
              <p:nvPr/>
            </p:nvSpPr>
            <p:spPr>
              <a:xfrm>
                <a:off x="4522456" y="5008891"/>
                <a:ext cx="3143624" cy="2857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̇"/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919E2-840A-E850-2F17-12BD28760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456" y="5008891"/>
                <a:ext cx="3143624" cy="285719"/>
              </a:xfrm>
              <a:prstGeom prst="rect">
                <a:avLst/>
              </a:prstGeom>
              <a:blipFill>
                <a:blip r:embed="rId3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2597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219E-6A0D-5073-A102-B85D27B3D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A243168F-AF19-54A8-0573-65FF0C985A08}"/>
              </a:ext>
            </a:extLst>
          </p:cNvPr>
          <p:cNvSpPr/>
          <p:nvPr/>
        </p:nvSpPr>
        <p:spPr>
          <a:xfrm>
            <a:off x="135082" y="114300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726E63D0-C483-2000-CBC2-7F7734D98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B84CBEC9-DBA9-3DC5-4B15-615A6B7460C2}"/>
              </a:ext>
            </a:extLst>
          </p:cNvPr>
          <p:cNvSpPr txBox="1">
            <a:spLocks/>
          </p:cNvSpPr>
          <p:nvPr/>
        </p:nvSpPr>
        <p:spPr>
          <a:xfrm>
            <a:off x="734399" y="1061099"/>
            <a:ext cx="9205467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20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라그랑지</a:t>
            </a:r>
            <a:r>
              <a:rPr lang="ko-KR" altLang="en-US" sz="20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역학</a:t>
            </a:r>
            <a:endParaRPr lang="en-US" altLang="ko-KR" sz="20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2900" indent="-342900" algn="l"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회전하는 병 내부에서 물이 움직이는 상황을 뉴턴 역학으로 분석하는 것은 매우 복잡함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marL="342900" indent="-342900" algn="l"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에너지만을 사용하는 </a:t>
            </a:r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라그랑지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역학 사용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704FD2-C0F0-8FDA-0EEE-6F2A6C0FBEA5}"/>
                  </a:ext>
                </a:extLst>
              </p:cNvPr>
              <p:cNvSpPr txBox="1"/>
              <p:nvPr/>
            </p:nvSpPr>
            <p:spPr>
              <a:xfrm>
                <a:off x="2550194" y="4105433"/>
                <a:ext cx="7091290" cy="15912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𝑏𝑜𝑡𝑡𝑙𝑒</m:t>
                          </m:r>
                        </m:sub>
                      </m:sSub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𝑤𝑎𝑡𝑒𝑟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𝑟𝑤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>
                  <a:solidFill>
                    <a:schemeClr val="bg1"/>
                  </a:solidFill>
                </a:endParaRPr>
              </a:p>
              <a:p>
                <a:endParaRPr lang="en-US" altLang="ko-KR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endParaRPr lang="en-US" altLang="ko-KR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ko-K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𝑀𝑔𝑦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𝑤𝑎𝑡𝑒𝑟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𝑟𝑐𝑜𝑠</m:t>
                          </m:r>
                          <m:r>
                            <a:rPr lang="ko-KR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704FD2-C0F0-8FDA-0EEE-6F2A6C0FB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194" y="4105433"/>
                <a:ext cx="7091290" cy="1591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268C8B9-DFD5-CC64-2C96-8C0CC3D12962}"/>
                  </a:ext>
                </a:extLst>
              </p:cNvPr>
              <p:cNvSpPr txBox="1"/>
              <p:nvPr/>
            </p:nvSpPr>
            <p:spPr>
              <a:xfrm>
                <a:off x="4037274" y="2769837"/>
                <a:ext cx="4113987" cy="2821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268C8B9-DFD5-CC64-2C96-8C0CC3D12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274" y="2769837"/>
                <a:ext cx="4113987" cy="282193"/>
              </a:xfrm>
              <a:prstGeom prst="rect">
                <a:avLst/>
              </a:prstGeom>
              <a:blipFill>
                <a:blip r:embed="rId4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부제목 8">
            <a:extLst>
              <a:ext uri="{FF2B5EF4-FFF2-40B4-BE49-F238E27FC236}">
                <a16:creationId xmlns:a16="http://schemas.microsoft.com/office/drawing/2014/main" id="{91B1422F-8FAD-CA43-0754-38620D8AEA1D}"/>
              </a:ext>
            </a:extLst>
          </p:cNvPr>
          <p:cNvSpPr txBox="1">
            <a:spLocks/>
          </p:cNvSpPr>
          <p:nvPr/>
        </p:nvSpPr>
        <p:spPr>
          <a:xfrm>
            <a:off x="2547049" y="3196751"/>
            <a:ext cx="709443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=&gt; L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은 </a:t>
            </a:r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라그랑지안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T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는 운동 에너지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U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는 퍼텐셜 에너지</a:t>
            </a:r>
          </a:p>
        </p:txBody>
      </p:sp>
    </p:spTree>
    <p:extLst>
      <p:ext uri="{BB962C8B-B14F-4D97-AF65-F5344CB8AC3E}">
        <p14:creationId xmlns:p14="http://schemas.microsoft.com/office/powerpoint/2010/main" val="176687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9A6A2-6EA3-8A77-418F-B2372083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B24DD938-60B4-1CB8-4772-6F2359C9C61D}"/>
              </a:ext>
            </a:extLst>
          </p:cNvPr>
          <p:cNvSpPr/>
          <p:nvPr/>
        </p:nvSpPr>
        <p:spPr>
          <a:xfrm>
            <a:off x="135082" y="114300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D38CBEB3-84AC-5722-3B55-FDBF21FC4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62BE56-AAA7-3F3C-A14E-3EACA8AD44DB}"/>
                  </a:ext>
                </a:extLst>
              </p:cNvPr>
              <p:cNvSpPr txBox="1"/>
              <p:nvPr/>
            </p:nvSpPr>
            <p:spPr>
              <a:xfrm>
                <a:off x="4039006" y="1745547"/>
                <a:ext cx="4113987" cy="622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ko-KR" alt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ko-KR" altLang="en-US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ko-KR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ko-KR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62BE56-AAA7-3F3C-A14E-3EACA8AD4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006" y="1745547"/>
                <a:ext cx="4113987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96AEDC50-05AB-F05E-D9D8-EFCBB1D6718E}"/>
              </a:ext>
            </a:extLst>
          </p:cNvPr>
          <p:cNvSpPr/>
          <p:nvPr/>
        </p:nvSpPr>
        <p:spPr>
          <a:xfrm>
            <a:off x="3685935" y="5234252"/>
            <a:ext cx="4820130" cy="26979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C724A2-E660-7424-1FE5-D4C6501338C1}"/>
                  </a:ext>
                </a:extLst>
              </p:cNvPr>
              <p:cNvSpPr txBox="1"/>
              <p:nvPr/>
            </p:nvSpPr>
            <p:spPr>
              <a:xfrm>
                <a:off x="3744756" y="3838820"/>
                <a:ext cx="46990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acc>
                        <m:accPr>
                          <m:chr m:val="̈"/>
                          <m:ctrlPr>
                            <a:rPr lang="en-US" altLang="ko-KR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𝑚𝑟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𝑚𝑔𝑐𝑜𝑠</m:t>
                      </m:r>
                      <m:r>
                        <a:rPr lang="ko-KR" alt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̇"/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C724A2-E660-7424-1FE5-D4C650133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756" y="3838820"/>
                <a:ext cx="4699022" cy="276999"/>
              </a:xfrm>
              <a:prstGeom prst="rect">
                <a:avLst/>
              </a:prstGeom>
              <a:blipFill>
                <a:blip r:embed="rId4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부제목 8">
            <a:extLst>
              <a:ext uri="{FF2B5EF4-FFF2-40B4-BE49-F238E27FC236}">
                <a16:creationId xmlns:a16="http://schemas.microsoft.com/office/drawing/2014/main" id="{C21F834F-7F77-A987-BBB1-15680FA0DD9E}"/>
              </a:ext>
            </a:extLst>
          </p:cNvPr>
          <p:cNvSpPr txBox="1">
            <a:spLocks/>
          </p:cNvSpPr>
          <p:nvPr/>
        </p:nvSpPr>
        <p:spPr>
          <a:xfrm>
            <a:off x="2547050" y="2762760"/>
            <a:ext cx="709443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=&gt; </a:t>
            </a:r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오일러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</a:t>
            </a:r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라그랑주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방정식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L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을 미분하여 운동 방정식 만들기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4CB86D-E9BE-4141-52BB-230D943726CF}"/>
                  </a:ext>
                </a:extLst>
              </p:cNvPr>
              <p:cNvSpPr txBox="1"/>
              <p:nvPr/>
            </p:nvSpPr>
            <p:spPr>
              <a:xfrm>
                <a:off x="2550195" y="3408218"/>
                <a:ext cx="7091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̇"/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4CB86D-E9BE-4141-52BB-230D94372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195" y="3408218"/>
                <a:ext cx="7091290" cy="276999"/>
              </a:xfrm>
              <a:prstGeom prst="rect">
                <a:avLst/>
              </a:prstGeom>
              <a:blipFill>
                <a:blip r:embed="rId5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B9CA33-EA31-2220-5E80-8D3E0E64E937}"/>
                  </a:ext>
                </a:extLst>
              </p:cNvPr>
              <p:cNvSpPr txBox="1"/>
              <p:nvPr/>
            </p:nvSpPr>
            <p:spPr>
              <a:xfrm>
                <a:off x="3744756" y="4809753"/>
                <a:ext cx="4699022" cy="5357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𝑔𝑐𝑜𝑠</m:t>
                      </m:r>
                      <m:r>
                        <a:rPr lang="ko-KR" alt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acc>
                            <m:accPr>
                              <m:chr m:val="̇"/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B9CA33-EA31-2220-5E80-8D3E0E64E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756" y="4809753"/>
                <a:ext cx="4699022" cy="5357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578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AEDA-D81B-B10E-848A-7542B3C5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CE4C43AF-14E2-87AF-B633-38CD2BA317CF}"/>
              </a:ext>
            </a:extLst>
          </p:cNvPr>
          <p:cNvSpPr/>
          <p:nvPr/>
        </p:nvSpPr>
        <p:spPr>
          <a:xfrm>
            <a:off x="135082" y="114300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C04D3530-22C3-1AB4-F73D-FFEF5C282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36B84234-EBF3-B344-D719-6C480118C195}"/>
              </a:ext>
            </a:extLst>
          </p:cNvPr>
          <p:cNvSpPr txBox="1">
            <a:spLocks/>
          </p:cNvSpPr>
          <p:nvPr/>
        </p:nvSpPr>
        <p:spPr>
          <a:xfrm>
            <a:off x="734399" y="1061099"/>
            <a:ext cx="10206317" cy="1922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20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코리올리</a:t>
            </a:r>
            <a:r>
              <a:rPr lang="ko-KR" altLang="en-US" sz="20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힘</a:t>
            </a:r>
            <a:endParaRPr lang="en-US" altLang="ko-KR" sz="20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2900" indent="-342900" algn="l"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물병의 회전이 왜 멈추는지에 대해 설명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2900" indent="-342900" algn="l"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회전할 때 물병 내부에서 물이 위쪽으로 이동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병의 회전을 방해하는 토크 발생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75362-243F-ADA2-5254-D0629EFBD298}"/>
                  </a:ext>
                </a:extLst>
              </p:cNvPr>
              <p:cNvSpPr txBox="1"/>
              <p:nvPr/>
            </p:nvSpPr>
            <p:spPr>
              <a:xfrm>
                <a:off x="5370425" y="2474023"/>
                <a:ext cx="4113987" cy="2821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각</m:t>
                          </m:r>
                          <m:r>
                            <a:rPr lang="ko-KR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운</m:t>
                          </m:r>
                          <m:r>
                            <a:rPr lang="ko-KR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동</m:t>
                          </m:r>
                          <m:r>
                            <a:rPr lang="ko-KR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량</m:t>
                          </m:r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𝑤𝑎𝑡𝑒𝑟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75362-243F-ADA2-5254-D0629EFBD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425" y="2474023"/>
                <a:ext cx="4113987" cy="282193"/>
              </a:xfrm>
              <a:prstGeom prst="rect">
                <a:avLst/>
              </a:prstGeom>
              <a:blipFill>
                <a:blip r:embed="rId3"/>
                <a:stretch>
                  <a:fillRect t="-6522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부제목 8">
            <a:extLst>
              <a:ext uri="{FF2B5EF4-FFF2-40B4-BE49-F238E27FC236}">
                <a16:creationId xmlns:a16="http://schemas.microsoft.com/office/drawing/2014/main" id="{53991BB4-BBD3-4005-7BCD-8825022494ED}"/>
              </a:ext>
            </a:extLst>
          </p:cNvPr>
          <p:cNvSpPr txBox="1">
            <a:spLocks/>
          </p:cNvSpPr>
          <p:nvPr/>
        </p:nvSpPr>
        <p:spPr>
          <a:xfrm>
            <a:off x="3880200" y="3902330"/>
            <a:ext cx="709443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각 운동량을 시간에 대해 미분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토크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D3BF61-B1E7-02B7-2BB6-AA270C0178E9}"/>
                  </a:ext>
                </a:extLst>
              </p:cNvPr>
              <p:cNvSpPr txBox="1"/>
              <p:nvPr/>
            </p:nvSpPr>
            <p:spPr>
              <a:xfrm>
                <a:off x="3314803" y="3050579"/>
                <a:ext cx="8225230" cy="5558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𝑤𝑎𝑡𝑒𝑟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𝑑𝑤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ko-KR" alt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D3BF61-B1E7-02B7-2BB6-AA270C017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803" y="3050579"/>
                <a:ext cx="8225230" cy="5558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6F6CEE-1507-E131-4BCD-3D6CF65341BA}"/>
                  </a:ext>
                </a:extLst>
              </p:cNvPr>
              <p:cNvSpPr txBox="1"/>
              <p:nvPr/>
            </p:nvSpPr>
            <p:spPr>
              <a:xfrm>
                <a:off x="4130042" y="451155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ko-KR" alt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6F6CEE-1507-E131-4BCD-3D6CF6534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042" y="4511550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부제목 8">
            <a:extLst>
              <a:ext uri="{FF2B5EF4-FFF2-40B4-BE49-F238E27FC236}">
                <a16:creationId xmlns:a16="http://schemas.microsoft.com/office/drawing/2014/main" id="{0BAB0617-F807-4168-7B21-08E4051AEC20}"/>
              </a:ext>
            </a:extLst>
          </p:cNvPr>
          <p:cNvSpPr txBox="1">
            <a:spLocks/>
          </p:cNvSpPr>
          <p:nvPr/>
        </p:nvSpPr>
        <p:spPr>
          <a:xfrm>
            <a:off x="3880199" y="4993825"/>
            <a:ext cx="709443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코리올리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토크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+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관성 토크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" name="부제목 8">
            <a:extLst>
              <a:ext uri="{FF2B5EF4-FFF2-40B4-BE49-F238E27FC236}">
                <a16:creationId xmlns:a16="http://schemas.microsoft.com/office/drawing/2014/main" id="{2229C226-D711-A3D5-F355-4E3F1EEF23B8}"/>
              </a:ext>
            </a:extLst>
          </p:cNvPr>
          <p:cNvSpPr txBox="1">
            <a:spLocks/>
          </p:cNvSpPr>
          <p:nvPr/>
        </p:nvSpPr>
        <p:spPr>
          <a:xfrm>
            <a:off x="3880199" y="5639560"/>
            <a:ext cx="709443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각 가속도에 대해 식을 정리하면 </a:t>
            </a:r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코리올리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토크는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(-)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부호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6872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F7B3-AD54-CC08-7945-3980B9AAC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E84E7E98-61D8-E62D-B142-91C39E1D7AB2}"/>
              </a:ext>
            </a:extLst>
          </p:cNvPr>
          <p:cNvSpPr/>
          <p:nvPr/>
        </p:nvSpPr>
        <p:spPr>
          <a:xfrm>
            <a:off x="135082" y="114300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B2E29150-6266-D063-8281-815A73EAA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7CA199A2-0B48-7C29-0FF4-F66C27482AA6}"/>
              </a:ext>
            </a:extLst>
          </p:cNvPr>
          <p:cNvSpPr txBox="1">
            <a:spLocks/>
          </p:cNvSpPr>
          <p:nvPr/>
        </p:nvSpPr>
        <p:spPr>
          <a:xfrm>
            <a:off x="734399" y="1061098"/>
            <a:ext cx="9205467" cy="236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‘RK4’ </a:t>
            </a:r>
            <a:r>
              <a:rPr lang="ko-KR" altLang="en-US" sz="20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방법 </a:t>
            </a:r>
            <a:endParaRPr lang="en-US" altLang="ko-KR" sz="20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∆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내의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 지점에서 기울기를 계산 후 가중 평균하여 다음 위치 예측  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2900" indent="-342900" algn="l">
              <a:buFontTx/>
              <a:buChar char="-"/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C8B2AF-652E-7609-95CA-DF1CFF471D2B}"/>
                  </a:ext>
                </a:extLst>
              </p:cNvPr>
              <p:cNvSpPr txBox="1"/>
              <p:nvPr/>
            </p:nvSpPr>
            <p:spPr>
              <a:xfrm>
                <a:off x="4090996" y="2320186"/>
                <a:ext cx="4375812" cy="4914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7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7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7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ko-KR" sz="17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ko-KR" altLang="en-US" sz="1700" dirty="0">
                          <a:solidFill>
                            <a:schemeClr val="bg1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m:t>∆</m:t>
                      </m:r>
                      <m:r>
                        <m:rPr>
                          <m:nor/>
                        </m:rPr>
                        <a:rPr lang="en-US" altLang="ko-KR" sz="1700" dirty="0">
                          <a:solidFill>
                            <a:schemeClr val="bg1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m:t>t</m:t>
                      </m:r>
                    </m:oMath>
                  </m:oMathPara>
                </a14:m>
                <a:endParaRPr lang="ko-KR" altLang="en-US" sz="17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C8B2AF-652E-7609-95CA-DF1CFF471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996" y="2320186"/>
                <a:ext cx="4375812" cy="4914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표 18">
                <a:extLst>
                  <a:ext uri="{FF2B5EF4-FFF2-40B4-BE49-F238E27FC236}">
                    <a16:creationId xmlns:a16="http://schemas.microsoft.com/office/drawing/2014/main" id="{54F428CD-B0D0-6FAA-2720-C4BC03F216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895025"/>
                  </p:ext>
                </p:extLst>
              </p:nvPr>
            </p:nvGraphicFramePr>
            <p:xfrm>
              <a:off x="2193052" y="3254076"/>
              <a:ext cx="8171699" cy="24901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020">
                      <a:extLst>
                        <a:ext uri="{9D8B030D-6E8A-4147-A177-3AD203B41FA5}">
                          <a16:colId xmlns:a16="http://schemas.microsoft.com/office/drawing/2014/main" val="2878426661"/>
                        </a:ext>
                      </a:extLst>
                    </a:gridCol>
                    <a:gridCol w="3326296">
                      <a:extLst>
                        <a:ext uri="{9D8B030D-6E8A-4147-A177-3AD203B41FA5}">
                          <a16:colId xmlns:a16="http://schemas.microsoft.com/office/drawing/2014/main" val="1252495260"/>
                        </a:ext>
                      </a:extLst>
                    </a:gridCol>
                    <a:gridCol w="3856383">
                      <a:extLst>
                        <a:ext uri="{9D8B030D-6E8A-4147-A177-3AD203B41FA5}">
                          <a16:colId xmlns:a16="http://schemas.microsoft.com/office/drawing/2014/main" val="4823237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기울기</a:t>
                          </a:r>
                          <a:endParaRPr lang="ko-KR" alt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공식</a:t>
                          </a:r>
                          <a:endParaRPr lang="ko-KR" alt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의미</a:t>
                          </a:r>
                          <a:endParaRPr lang="ko-KR" altLang="en-US" sz="170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520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𝑓</m:t>
                                </m:r>
                                <m:r>
                                  <a:rPr lang="en-US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 , </m:t>
                                </m:r>
                                <m:sSub>
                                  <m:sSubPr>
                                    <m:ctrlP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 )</m:t>
                                </m:r>
                              </m:oMath>
                            </m:oMathPara>
                          </a14:m>
                          <a:endParaRPr lang="pt-BR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시작점</a:t>
                          </a:r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에서의 기울기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ko-KR" altLang="en-US" sz="1600" dirty="0" smtClean="0">
                                  <a:solidFill>
                                    <a:schemeClr val="bg1"/>
                                  </a:solidFill>
                                  <a:latin typeface="나눔스퀘어_ac ExtraBold" panose="020B0600000101010101" pitchFamily="50" charset="-127"/>
                                  <a:ea typeface="나눔스퀘어_ac ExtraBold" panose="020B0600000101010101" pitchFamily="50" charset="-127"/>
                                </a:rPr>
                                <m:t>∆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dirty="0" smtClean="0">
                                  <a:solidFill>
                                    <a:schemeClr val="bg1"/>
                                  </a:solidFill>
                                  <a:latin typeface="나눔스퀘어_ac ExtraBold" panose="020B0600000101010101" pitchFamily="50" charset="-127"/>
                                  <a:ea typeface="나눔스퀘어_ac ExtraBold" panose="020B0600000101010101" pitchFamily="50" charset="-127"/>
                                </a:rPr>
                                <m:t>t</m:t>
                              </m:r>
                            </m:oMath>
                          </a14:m>
                          <a:r>
                            <a:rPr lang="en-US" altLang="ko-KR" sz="1700" dirty="0">
                              <a:solidFill>
                                <a:schemeClr val="bg1"/>
                              </a:solidFill>
                              <a:effectLst/>
                              <a:latin typeface="Bell MT" panose="02020503060305020303" pitchFamily="18" charset="0"/>
                              <a:ea typeface="나눔스퀘어_ac Bold" panose="020B0600000101010101" pitchFamily="50" charset="-127"/>
                            </a:rPr>
                            <a:t>∙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ko-KR" sz="1700" b="0" i="1" dirty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나눔스퀘어_ac Bold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700" b="0" i="1" dirty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나눔스퀘어_ac Bold" panose="020B0600000101010101" pitchFamily="50" charset="-127"/>
                                    </a:rPr>
                                    <m:t>𝑑𝑤</m:t>
                                  </m:r>
                                </m:num>
                                <m:den>
                                  <m:r>
                                    <a:rPr lang="en-US" altLang="ko-KR" sz="1700" b="0" i="1" dirty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나눔스퀘어_ac Bold" panose="020B0600000101010101" pitchFamily="50" charset="-127"/>
                                    </a:rPr>
                                    <m:t>𝑑𝑡</m:t>
                                  </m:r>
                                </m:den>
                              </m:f>
                            </m:oMath>
                          </a14:m>
                          <a:endParaRPr lang="en-US" altLang="ko-KR" sz="1700" b="0" dirty="0">
                            <a:solidFill>
                              <a:schemeClr val="bg1"/>
                            </a:solidFill>
                            <a:effectLst/>
                            <a:latin typeface="Bell MT" panose="02020503060305020303" pitchFamily="18" charset="0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0012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𝑓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ko-KR" altLang="en-US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∆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t</m:t>
                                    </m:r>
                                  </m:num>
                                  <m:den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 , 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ko-KR" altLang="en-US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∆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t</m:t>
                                    </m:r>
                                  </m:num>
                                  <m:den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altLang="ko-KR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으로 예측한 </a:t>
                          </a: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중간점</a:t>
                          </a:r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에서의 기울기</a:t>
                          </a: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406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𝑓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ko-KR" altLang="en-US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∆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t</m:t>
                                    </m:r>
                                  </m:num>
                                  <m:den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 , 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ko-KR" altLang="en-US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∆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t</m:t>
                                    </m:r>
                                  </m:num>
                                  <m:den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altLang="ko-KR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로 재조정한 </a:t>
                          </a: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중간점</a:t>
                          </a:r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에서의 기울기</a:t>
                          </a: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76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𝑓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ko-KR" altLang="en-US" sz="170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∆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70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700" b="0" i="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 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ko-KR" altLang="en-US" sz="170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∆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70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t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altLang="ko-KR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로 예측한 </a:t>
                          </a: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끝점</a:t>
                          </a:r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에서의 기울기</a:t>
                          </a: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747497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표 18">
                <a:extLst>
                  <a:ext uri="{FF2B5EF4-FFF2-40B4-BE49-F238E27FC236}">
                    <a16:creationId xmlns:a16="http://schemas.microsoft.com/office/drawing/2014/main" id="{54F428CD-B0D0-6FAA-2720-C4BC03F216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895025"/>
                  </p:ext>
                </p:extLst>
              </p:nvPr>
            </p:nvGraphicFramePr>
            <p:xfrm>
              <a:off x="2193052" y="3254076"/>
              <a:ext cx="8171699" cy="24901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020">
                      <a:extLst>
                        <a:ext uri="{9D8B030D-6E8A-4147-A177-3AD203B41FA5}">
                          <a16:colId xmlns:a16="http://schemas.microsoft.com/office/drawing/2014/main" val="2878426661"/>
                        </a:ext>
                      </a:extLst>
                    </a:gridCol>
                    <a:gridCol w="3326296">
                      <a:extLst>
                        <a:ext uri="{9D8B030D-6E8A-4147-A177-3AD203B41FA5}">
                          <a16:colId xmlns:a16="http://schemas.microsoft.com/office/drawing/2014/main" val="1252495260"/>
                        </a:ext>
                      </a:extLst>
                    </a:gridCol>
                    <a:gridCol w="3856383">
                      <a:extLst>
                        <a:ext uri="{9D8B030D-6E8A-4147-A177-3AD203B41FA5}">
                          <a16:colId xmlns:a16="http://schemas.microsoft.com/office/drawing/2014/main" val="482323709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기울기</a:t>
                          </a:r>
                          <a:endParaRPr lang="ko-KR" alt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공식</a:t>
                          </a:r>
                          <a:endParaRPr lang="ko-KR" alt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의미</a:t>
                          </a:r>
                          <a:endParaRPr lang="ko-KR" altLang="en-US" sz="170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5200005"/>
                      </a:ext>
                    </a:extLst>
                  </a:tr>
                  <a:tr h="49504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617" t="-79012" r="-730864" b="-3419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29799" t="-79012" r="-116453" b="-3419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112164" t="-79012" r="-632" b="-3419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012576"/>
                      </a:ext>
                    </a:extLst>
                  </a:tr>
                  <a:tr h="61207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617" t="-143564" r="-730864" b="-174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29799" t="-143564" r="-116453" b="-174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112164" t="-143564" r="-632" b="-1742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3406076"/>
                      </a:ext>
                    </a:extLst>
                  </a:tr>
                  <a:tr h="61207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617" t="-243564" r="-730864" b="-74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29799" t="-243564" r="-116453" b="-74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112164" t="-243564" r="-632" b="-742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684041"/>
                      </a:ext>
                    </a:extLst>
                  </a:tr>
                  <a:tr h="389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617" t="-542188" r="-730864" b="-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29799" t="-542188" r="-116453" b="-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4"/>
                          <a:stretch>
                            <a:fillRect l="-112164" t="-542188" r="-632" b="-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4749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10656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2CD0D-D6DF-3454-5608-225769E4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BD86C02C-3CA8-933C-F57D-D1C8FD1BF30F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부제목 8">
            <a:extLst>
              <a:ext uri="{FF2B5EF4-FFF2-40B4-BE49-F238E27FC236}">
                <a16:creationId xmlns:a16="http://schemas.microsoft.com/office/drawing/2014/main" id="{210AF86E-DEC2-1FD3-AF6F-AB2886E674A6}"/>
              </a:ext>
            </a:extLst>
          </p:cNvPr>
          <p:cNvSpPr txBox="1">
            <a:spLocks/>
          </p:cNvSpPr>
          <p:nvPr/>
        </p:nvSpPr>
        <p:spPr>
          <a:xfrm>
            <a:off x="1499743" y="3582599"/>
            <a:ext cx="9558317" cy="2212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D92125F2-0F09-DEA4-77F6-DA59ECD94A02}"/>
              </a:ext>
            </a:extLst>
          </p:cNvPr>
          <p:cNvSpPr txBox="1">
            <a:spLocks/>
          </p:cNvSpPr>
          <p:nvPr/>
        </p:nvSpPr>
        <p:spPr>
          <a:xfrm>
            <a:off x="422031" y="356831"/>
            <a:ext cx="319202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성공 기준 설정</a:t>
            </a:r>
          </a:p>
        </p:txBody>
      </p:sp>
      <p:sp>
        <p:nvSpPr>
          <p:cNvPr id="13" name="부제목 8">
            <a:extLst>
              <a:ext uri="{FF2B5EF4-FFF2-40B4-BE49-F238E27FC236}">
                <a16:creationId xmlns:a16="http://schemas.microsoft.com/office/drawing/2014/main" id="{0F4AC8A0-4C1F-554B-F9F8-75337F8B79CD}"/>
              </a:ext>
            </a:extLst>
          </p:cNvPr>
          <p:cNvSpPr txBox="1">
            <a:spLocks/>
          </p:cNvSpPr>
          <p:nvPr/>
        </p:nvSpPr>
        <p:spPr>
          <a:xfrm>
            <a:off x="944577" y="1575271"/>
            <a:ext cx="10302844" cy="5956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착지각도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바닥에 닿는 순간의 병 각도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수직에 가까워야 함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수직 기준에서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0.5 rad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이내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착지 속도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바닥에 닿는 순간 회전 속도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충분히 느려야 함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=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회전이 빠르면 바닥에 닿았을 때 튕길 수 있음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범위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각속도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&lt; 12.0 rad/s</a:t>
            </a:r>
          </a:p>
        </p:txBody>
      </p:sp>
    </p:spTree>
    <p:extLst>
      <p:ext uri="{BB962C8B-B14F-4D97-AF65-F5344CB8AC3E}">
        <p14:creationId xmlns:p14="http://schemas.microsoft.com/office/powerpoint/2010/main" val="1555136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CFDF2-6080-D81A-DBCD-E8B6B7EB5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4BE521A9-057F-957A-123F-A4CA852ABB4E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부제목 8">
            <a:extLst>
              <a:ext uri="{FF2B5EF4-FFF2-40B4-BE49-F238E27FC236}">
                <a16:creationId xmlns:a16="http://schemas.microsoft.com/office/drawing/2014/main" id="{1927E5F9-86F7-1175-0AB1-F94C49C29234}"/>
              </a:ext>
            </a:extLst>
          </p:cNvPr>
          <p:cNvSpPr txBox="1">
            <a:spLocks/>
          </p:cNvSpPr>
          <p:nvPr/>
        </p:nvSpPr>
        <p:spPr>
          <a:xfrm>
            <a:off x="1499743" y="3582599"/>
            <a:ext cx="9558317" cy="2212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A290F92E-8511-1382-AB8D-7FDB67CEF3F8}"/>
              </a:ext>
            </a:extLst>
          </p:cNvPr>
          <p:cNvSpPr txBox="1">
            <a:spLocks/>
          </p:cNvSpPr>
          <p:nvPr/>
        </p:nvSpPr>
        <p:spPr>
          <a:xfrm>
            <a:off x="422031" y="356831"/>
            <a:ext cx="319202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성공 기준 설정</a:t>
            </a:r>
          </a:p>
        </p:txBody>
      </p:sp>
      <p:sp>
        <p:nvSpPr>
          <p:cNvPr id="13" name="부제목 8">
            <a:extLst>
              <a:ext uri="{FF2B5EF4-FFF2-40B4-BE49-F238E27FC236}">
                <a16:creationId xmlns:a16="http://schemas.microsoft.com/office/drawing/2014/main" id="{20321686-E912-F762-9746-ABAA6B166373}"/>
              </a:ext>
            </a:extLst>
          </p:cNvPr>
          <p:cNvSpPr txBox="1">
            <a:spLocks/>
          </p:cNvSpPr>
          <p:nvPr/>
        </p:nvSpPr>
        <p:spPr>
          <a:xfrm>
            <a:off x="876345" y="791556"/>
            <a:ext cx="10827123" cy="5127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안정성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착지 후 넘어지지 않고 안정적으로 유지되는가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안정성 가중치 삽입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물의 양과 연관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물의 양이 많으면 무게 중심이 높아져 넘어질 확률 높아짐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물의 높이는 전체 높이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*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비율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2Lf 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균일 밀도 가정하면 무게 중심은 절반에 존재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</a:t>
            </a:r>
            <a:r>
              <a:rPr lang="en-US" altLang="ko-KR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Lf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전체 무게 중심을 바닥 기준으로 변환 후 점수 환산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점수를 제곱하여 사용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E771D-D9FD-246C-DFB0-69498DFFB8D6}"/>
              </a:ext>
            </a:extLst>
          </p:cNvPr>
          <p:cNvSpPr txBox="1"/>
          <p:nvPr/>
        </p:nvSpPr>
        <p:spPr>
          <a:xfrm>
            <a:off x="5636029" y="297595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84987-234C-526A-2B60-F9F44B304967}"/>
                  </a:ext>
                </a:extLst>
              </p:cNvPr>
              <p:cNvSpPr txBox="1"/>
              <p:nvPr/>
            </p:nvSpPr>
            <p:spPr>
              <a:xfrm>
                <a:off x="3819050" y="3585290"/>
                <a:ext cx="4113987" cy="5484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 +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</m:den>
                      </m:f>
                    </m:oMath>
                  </m:oMathPara>
                </a14:m>
                <a:endParaRPr lang="en-US" altLang="ko-K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84987-234C-526A-2B60-F9F44B304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050" y="3585290"/>
                <a:ext cx="4113987" cy="548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D2C2F5-88EB-30BE-B1E3-F05E59D6099B}"/>
                  </a:ext>
                </a:extLst>
              </p:cNvPr>
              <p:cNvSpPr txBox="1"/>
              <p:nvPr/>
            </p:nvSpPr>
            <p:spPr>
              <a:xfrm>
                <a:off x="4963189" y="4512576"/>
                <a:ext cx="4113987" cy="2821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Sc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ore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1− (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)/2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altLang="ko-K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D2C2F5-88EB-30BE-B1E3-F05E59D60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189" y="4512576"/>
                <a:ext cx="4113987" cy="282193"/>
              </a:xfrm>
              <a:prstGeom prst="rect">
                <a:avLst/>
              </a:prstGeom>
              <a:blipFill>
                <a:blip r:embed="rId4"/>
                <a:stretch>
                  <a:fillRect b="-34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609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6E7B-5CEB-03D4-DBD2-F8FB2F7A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DF804F4A-F51C-F3A5-AD05-92CFAE0F976A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CF17E2D7-BA66-FBCC-63D2-E7F746D49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0970E349-20AC-FCAA-CCCE-AF67B594B643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기본 설정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0766D9-484D-5A8A-6DF9-C553A791B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87" y="2025805"/>
            <a:ext cx="4062836" cy="241999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B67606B-6528-65CD-A6F0-9B3BAAF44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290" y="1435959"/>
            <a:ext cx="598170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53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4720D-6340-90E2-2651-C6AF47F15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6DBBFB6E-2EC9-D934-A031-3AE6FE921553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90DB6DFD-EF2F-01AE-7230-3A7E8FF39437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B.</a:t>
            </a: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RK4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함수 정의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1" name="부제목 8">
            <a:extLst>
              <a:ext uri="{FF2B5EF4-FFF2-40B4-BE49-F238E27FC236}">
                <a16:creationId xmlns:a16="http://schemas.microsoft.com/office/drawing/2014/main" id="{F0A47775-C2ED-E237-9C81-6AB1E7763BAD}"/>
              </a:ext>
            </a:extLst>
          </p:cNvPr>
          <p:cNvSpPr txBox="1">
            <a:spLocks/>
          </p:cNvSpPr>
          <p:nvPr/>
        </p:nvSpPr>
        <p:spPr>
          <a:xfrm>
            <a:off x="985653" y="2043696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ko-KR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A1F731E8-E494-FEEE-93B8-EC4EADE4B6B9}"/>
              </a:ext>
            </a:extLst>
          </p:cNvPr>
          <p:cNvSpPr txBox="1">
            <a:spLocks/>
          </p:cNvSpPr>
          <p:nvPr/>
        </p:nvSpPr>
        <p:spPr>
          <a:xfrm>
            <a:off x="422031" y="356831"/>
            <a:ext cx="319202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  <a:endParaRPr lang="ko-KR" altLang="en-US" sz="3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3BB391-B0BF-A61F-3978-2DCCCFF76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835" y="1424168"/>
            <a:ext cx="7578933" cy="236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3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D0CA-3B47-E20B-EAAB-4B6B531A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4A397283-00FA-AC33-42E4-A8347436E7E7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D2581C1B-E0CB-8661-C0E4-D7F0906804EE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시뮬레이션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AC9145F0-ECAF-B7BE-0543-BFEE907A250C}"/>
              </a:ext>
            </a:extLst>
          </p:cNvPr>
          <p:cNvSpPr txBox="1">
            <a:spLocks/>
          </p:cNvSpPr>
          <p:nvPr/>
        </p:nvSpPr>
        <p:spPr>
          <a:xfrm>
            <a:off x="422031" y="356831"/>
            <a:ext cx="319202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  <a:endParaRPr lang="ko-KR" altLang="en-US" sz="3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440BDA5-996D-7851-6FE6-6F91604F4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94" y="1259806"/>
            <a:ext cx="8438697" cy="4788067"/>
          </a:xfrm>
          <a:prstGeom prst="rect">
            <a:avLst/>
          </a:prstGeom>
        </p:spPr>
      </p:pic>
      <p:sp>
        <p:nvSpPr>
          <p:cNvPr id="21" name="부제목 8">
            <a:extLst>
              <a:ext uri="{FF2B5EF4-FFF2-40B4-BE49-F238E27FC236}">
                <a16:creationId xmlns:a16="http://schemas.microsoft.com/office/drawing/2014/main" id="{0A55E57E-6B58-6616-948B-DCF1B861B7BB}"/>
              </a:ext>
            </a:extLst>
          </p:cNvPr>
          <p:cNvSpPr txBox="1">
            <a:spLocks/>
          </p:cNvSpPr>
          <p:nvPr/>
        </p:nvSpPr>
        <p:spPr>
          <a:xfrm>
            <a:off x="6115832" y="1909931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비율로 물 질량 세팅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4" name="부제목 8">
            <a:extLst>
              <a:ext uri="{FF2B5EF4-FFF2-40B4-BE49-F238E27FC236}">
                <a16:creationId xmlns:a16="http://schemas.microsoft.com/office/drawing/2014/main" id="{CFF7F333-37A9-0A5E-8556-8D4905DC40EB}"/>
              </a:ext>
            </a:extLst>
          </p:cNvPr>
          <p:cNvSpPr txBox="1">
            <a:spLocks/>
          </p:cNvSpPr>
          <p:nvPr/>
        </p:nvSpPr>
        <p:spPr>
          <a:xfrm>
            <a:off x="8018014" y="3128371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던지는 상황의 초기 설정 값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5" name="부제목 8">
            <a:extLst>
              <a:ext uri="{FF2B5EF4-FFF2-40B4-BE49-F238E27FC236}">
                <a16:creationId xmlns:a16="http://schemas.microsoft.com/office/drawing/2014/main" id="{59886266-179F-9033-B4A0-72BE1B8CFEC0}"/>
              </a:ext>
            </a:extLst>
          </p:cNvPr>
          <p:cNvSpPr txBox="1">
            <a:spLocks/>
          </p:cNvSpPr>
          <p:nvPr/>
        </p:nvSpPr>
        <p:spPr>
          <a:xfrm>
            <a:off x="8848863" y="4244957"/>
            <a:ext cx="320632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시간 루프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 algn="l">
              <a:buFont typeface="Wingdings" panose="05000000000000000000" pitchFamily="2" charset="2"/>
              <a:buChar char="è"/>
            </a:pP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병이 바닥에 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충돌하면 루프가 멈추게 설정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6" name="부제목 8">
            <a:extLst>
              <a:ext uri="{FF2B5EF4-FFF2-40B4-BE49-F238E27FC236}">
                <a16:creationId xmlns:a16="http://schemas.microsoft.com/office/drawing/2014/main" id="{A355BC13-F0AF-3DDE-F609-2F84BDB772E1}"/>
              </a:ext>
            </a:extLst>
          </p:cNvPr>
          <p:cNvSpPr txBox="1">
            <a:spLocks/>
          </p:cNvSpPr>
          <p:nvPr/>
        </p:nvSpPr>
        <p:spPr>
          <a:xfrm>
            <a:off x="7162452" y="5521081"/>
            <a:ext cx="320632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착지 각도와 속도를 추출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7" name="부제목 8">
            <a:extLst>
              <a:ext uri="{FF2B5EF4-FFF2-40B4-BE49-F238E27FC236}">
                <a16:creationId xmlns:a16="http://schemas.microsoft.com/office/drawing/2014/main" id="{7B77A624-BB92-AFF6-3C29-FA71BA99867E}"/>
              </a:ext>
            </a:extLst>
          </p:cNvPr>
          <p:cNvSpPr txBox="1">
            <a:spLocks/>
          </p:cNvSpPr>
          <p:nvPr/>
        </p:nvSpPr>
        <p:spPr>
          <a:xfrm>
            <a:off x="4715094" y="2576835"/>
            <a:ext cx="5920822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x         </a:t>
            </a:r>
            <a:r>
              <a:rPr lang="en-US" altLang="ko-KR" sz="16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v_x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y        </a:t>
            </a:r>
            <a:r>
              <a:rPr lang="en-US" altLang="ko-KR" sz="16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v_y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각도                                                     </a:t>
            </a:r>
            <a:r>
              <a:rPr lang="en-US" altLang="ko-KR" sz="16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v_r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994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C46A-0D3F-3AE0-6AAA-83A7855D4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2B4C82C3-B26F-146C-8E18-FEBF9F070956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7D6CC1FA-86B5-8429-0698-4D2CEC722C77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데이터 수집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ABE05971-F1D7-85F7-5CCE-0A5FEDBA0C41}"/>
              </a:ext>
            </a:extLst>
          </p:cNvPr>
          <p:cNvSpPr txBox="1">
            <a:spLocks/>
          </p:cNvSpPr>
          <p:nvPr/>
        </p:nvSpPr>
        <p:spPr>
          <a:xfrm>
            <a:off x="422031" y="356831"/>
            <a:ext cx="319202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  <a:endParaRPr lang="ko-KR" altLang="en-US" sz="3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E0C4AA-8507-D906-0087-FC8BDBD58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423" y="1241821"/>
            <a:ext cx="6945995" cy="4795564"/>
          </a:xfrm>
          <a:prstGeom prst="rect">
            <a:avLst/>
          </a:prstGeom>
        </p:spPr>
      </p:pic>
      <p:sp>
        <p:nvSpPr>
          <p:cNvPr id="8" name="부제목 8">
            <a:extLst>
              <a:ext uri="{FF2B5EF4-FFF2-40B4-BE49-F238E27FC236}">
                <a16:creationId xmlns:a16="http://schemas.microsoft.com/office/drawing/2014/main" id="{1BFC5BDF-5E4A-0A80-3F34-93C4A77C9D2E}"/>
              </a:ext>
            </a:extLst>
          </p:cNvPr>
          <p:cNvSpPr txBox="1">
            <a:spLocks/>
          </p:cNvSpPr>
          <p:nvPr/>
        </p:nvSpPr>
        <p:spPr>
          <a:xfrm>
            <a:off x="6635948" y="1575271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물의 양과 회전 속도를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50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 지점으로 나눔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</p:txBody>
      </p:sp>
      <p:sp>
        <p:nvSpPr>
          <p:cNvPr id="2" name="부제목 8">
            <a:extLst>
              <a:ext uri="{FF2B5EF4-FFF2-40B4-BE49-F238E27FC236}">
                <a16:creationId xmlns:a16="http://schemas.microsoft.com/office/drawing/2014/main" id="{A2F8B188-540C-19E0-8F69-7F9A1A2D6BC3}"/>
              </a:ext>
            </a:extLst>
          </p:cNvPr>
          <p:cNvSpPr txBox="1">
            <a:spLocks/>
          </p:cNvSpPr>
          <p:nvPr/>
        </p:nvSpPr>
        <p:spPr>
          <a:xfrm>
            <a:off x="6435753" y="3508853"/>
            <a:ext cx="4963767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다음 지점으로 넘어가면서 반복 측정 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총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50*50 = 2500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" name="부제목 8">
            <a:extLst>
              <a:ext uri="{FF2B5EF4-FFF2-40B4-BE49-F238E27FC236}">
                <a16:creationId xmlns:a16="http://schemas.microsoft.com/office/drawing/2014/main" id="{99816E85-BC24-5DC1-6F39-1B161A847053}"/>
              </a:ext>
            </a:extLst>
          </p:cNvPr>
          <p:cNvSpPr txBox="1">
            <a:spLocks/>
          </p:cNvSpPr>
          <p:nvPr/>
        </p:nvSpPr>
        <p:spPr>
          <a:xfrm>
            <a:off x="6851933" y="4727293"/>
            <a:ext cx="478707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90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도가 넘어가면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90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도와 동일하게 표기되도록 설정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0274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C95DA-7D11-2FA5-4AD9-68971ED6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A2774FB4-6F74-1059-1878-FE039024B920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2432C55E-D88B-9CFF-F631-42B76B75ED19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데이터 수집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E0F59D23-614A-2246-A0E4-5A6A2FF53649}"/>
              </a:ext>
            </a:extLst>
          </p:cNvPr>
          <p:cNvSpPr txBox="1">
            <a:spLocks/>
          </p:cNvSpPr>
          <p:nvPr/>
        </p:nvSpPr>
        <p:spPr>
          <a:xfrm>
            <a:off x="422031" y="356831"/>
            <a:ext cx="319202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  <a:endParaRPr lang="ko-KR" altLang="en-US" sz="3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" name="부제목 8">
            <a:extLst>
              <a:ext uri="{FF2B5EF4-FFF2-40B4-BE49-F238E27FC236}">
                <a16:creationId xmlns:a16="http://schemas.microsoft.com/office/drawing/2014/main" id="{7847B46E-601C-98AD-5AEF-4205EDA09787}"/>
              </a:ext>
            </a:extLst>
          </p:cNvPr>
          <p:cNvSpPr txBox="1">
            <a:spLocks/>
          </p:cNvSpPr>
          <p:nvPr/>
        </p:nvSpPr>
        <p:spPr>
          <a:xfrm>
            <a:off x="6982896" y="2286361"/>
            <a:ext cx="478707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6E08BA3-4617-D4FB-728F-C63A77BD2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1776412"/>
            <a:ext cx="7677150" cy="3305175"/>
          </a:xfrm>
          <a:prstGeom prst="rect">
            <a:avLst/>
          </a:prstGeom>
        </p:spPr>
      </p:pic>
      <p:sp>
        <p:nvSpPr>
          <p:cNvPr id="4" name="부제목 8">
            <a:extLst>
              <a:ext uri="{FF2B5EF4-FFF2-40B4-BE49-F238E27FC236}">
                <a16:creationId xmlns:a16="http://schemas.microsoft.com/office/drawing/2014/main" id="{568EDA8C-F1E2-E624-F323-BB649EA53763}"/>
              </a:ext>
            </a:extLst>
          </p:cNvPr>
          <p:cNvSpPr txBox="1">
            <a:spLocks/>
          </p:cNvSpPr>
          <p:nvPr/>
        </p:nvSpPr>
        <p:spPr>
          <a:xfrm>
            <a:off x="5792274" y="1961474"/>
            <a:ext cx="478707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무게 중심 계산 함수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–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안정성 조건에 사용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779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DB1C-7A29-1113-49DA-B4433C3A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DBD8175C-9AA9-C2F4-FAB1-2E512B794D80}"/>
              </a:ext>
            </a:extLst>
          </p:cNvPr>
          <p:cNvSpPr/>
          <p:nvPr/>
        </p:nvSpPr>
        <p:spPr>
          <a:xfrm>
            <a:off x="136812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4686347-196D-880E-8E01-37A045AA9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743" y="1180152"/>
            <a:ext cx="6352077" cy="4999033"/>
          </a:xfrm>
          <a:prstGeom prst="rect">
            <a:avLst/>
          </a:prstGeom>
        </p:spPr>
      </p:pic>
      <p:sp>
        <p:nvSpPr>
          <p:cNvPr id="11" name="부제목 8">
            <a:extLst>
              <a:ext uri="{FF2B5EF4-FFF2-40B4-BE49-F238E27FC236}">
                <a16:creationId xmlns:a16="http://schemas.microsoft.com/office/drawing/2014/main" id="{F0FC65D8-558C-50CE-359F-531C96A852D0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데이터 수집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FED3746E-60A3-B13C-383E-C20EDEAED5ED}"/>
              </a:ext>
            </a:extLst>
          </p:cNvPr>
          <p:cNvSpPr txBox="1">
            <a:spLocks/>
          </p:cNvSpPr>
          <p:nvPr/>
        </p:nvSpPr>
        <p:spPr>
          <a:xfrm>
            <a:off x="422031" y="356831"/>
            <a:ext cx="319202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  <a:endParaRPr lang="ko-KR" altLang="en-US" sz="3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8" name="부제목 8">
            <a:extLst>
              <a:ext uri="{FF2B5EF4-FFF2-40B4-BE49-F238E27FC236}">
                <a16:creationId xmlns:a16="http://schemas.microsoft.com/office/drawing/2014/main" id="{29E9219A-6DC8-514C-612A-D426ADF5B36E}"/>
              </a:ext>
            </a:extLst>
          </p:cNvPr>
          <p:cNvSpPr txBox="1">
            <a:spLocks/>
          </p:cNvSpPr>
          <p:nvPr/>
        </p:nvSpPr>
        <p:spPr>
          <a:xfrm>
            <a:off x="7092706" y="1778680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성공 기준 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1, 2 </a:t>
            </a:r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663CE0AE-1134-316B-0D5E-BF6C0E238B24}"/>
              </a:ext>
            </a:extLst>
          </p:cNvPr>
          <p:cNvSpPr txBox="1">
            <a:spLocks/>
          </p:cNvSpPr>
          <p:nvPr/>
        </p:nvSpPr>
        <p:spPr>
          <a:xfrm>
            <a:off x="4990542" y="4781245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성공 기준 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적용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" name="부제목 8">
            <a:extLst>
              <a:ext uri="{FF2B5EF4-FFF2-40B4-BE49-F238E27FC236}">
                <a16:creationId xmlns:a16="http://schemas.microsoft.com/office/drawing/2014/main" id="{FE4C6E95-1592-1BCA-D7D6-D63F08D96050}"/>
              </a:ext>
            </a:extLst>
          </p:cNvPr>
          <p:cNvSpPr txBox="1">
            <a:spLocks/>
          </p:cNvSpPr>
          <p:nvPr/>
        </p:nvSpPr>
        <p:spPr>
          <a:xfrm>
            <a:off x="6306102" y="2638120"/>
            <a:ext cx="5316567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각 물의 비율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50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 지점에서 두 기준을 모두 만족한 경우 카운트 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" name="부제목 8">
            <a:extLst>
              <a:ext uri="{FF2B5EF4-FFF2-40B4-BE49-F238E27FC236}">
                <a16:creationId xmlns:a16="http://schemas.microsoft.com/office/drawing/2014/main" id="{4D34350C-098B-A6DD-34D8-6C7A780F0C37}"/>
              </a:ext>
            </a:extLst>
          </p:cNvPr>
          <p:cNvSpPr txBox="1">
            <a:spLocks/>
          </p:cNvSpPr>
          <p:nvPr/>
        </p:nvSpPr>
        <p:spPr>
          <a:xfrm>
            <a:off x="7617806" y="5141158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기준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개를 모두 적용하여 성공 횟수로 계산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0220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19F4-2F5A-A3E5-00E2-8BB62592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16E756D8-1944-421F-47F8-D1BCB970E230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3017129B-AAB4-1F15-8B93-54C55D21B19B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6243089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E.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시각화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_(1) Landing angle map</a:t>
            </a: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물의 비율과 초기 각속도 각 지점에서의 착지 각도를 그래프화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DC556D46-7DA6-BED7-172A-98C0581CEE53}"/>
              </a:ext>
            </a:extLst>
          </p:cNvPr>
          <p:cNvSpPr txBox="1">
            <a:spLocks/>
          </p:cNvSpPr>
          <p:nvPr/>
        </p:nvSpPr>
        <p:spPr>
          <a:xfrm>
            <a:off x="422031" y="356831"/>
            <a:ext cx="319202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  <a:endParaRPr lang="ko-KR" altLang="en-US" sz="3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7129C5-54FB-86D0-69FA-CF771CDAE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22" y="2319652"/>
            <a:ext cx="9919180" cy="3642281"/>
          </a:xfrm>
          <a:prstGeom prst="rect">
            <a:avLst/>
          </a:prstGeom>
        </p:spPr>
      </p:pic>
      <p:sp>
        <p:nvSpPr>
          <p:cNvPr id="18" name="부제목 8">
            <a:extLst>
              <a:ext uri="{FF2B5EF4-FFF2-40B4-BE49-F238E27FC236}">
                <a16:creationId xmlns:a16="http://schemas.microsoft.com/office/drawing/2014/main" id="{767E8235-6D60-E5D3-ED74-6899C6381D26}"/>
              </a:ext>
            </a:extLst>
          </p:cNvPr>
          <p:cNvSpPr txBox="1">
            <a:spLocks/>
          </p:cNvSpPr>
          <p:nvPr/>
        </p:nvSpPr>
        <p:spPr>
          <a:xfrm>
            <a:off x="8605617" y="2591367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그래프 축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 나누어 캔버스 생성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" name="부제목 8">
            <a:extLst>
              <a:ext uri="{FF2B5EF4-FFF2-40B4-BE49-F238E27FC236}">
                <a16:creationId xmlns:a16="http://schemas.microsoft.com/office/drawing/2014/main" id="{CF4967AD-30A1-0EB9-9DA1-98ADC3FF6AC1}"/>
              </a:ext>
            </a:extLst>
          </p:cNvPr>
          <p:cNvSpPr txBox="1">
            <a:spLocks/>
          </p:cNvSpPr>
          <p:nvPr/>
        </p:nvSpPr>
        <p:spPr>
          <a:xfrm>
            <a:off x="8067538" y="3572778"/>
            <a:ext cx="4367240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데이터를 색상 표기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보라색 성공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~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노란색 실패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9225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44B8-0D2A-E50D-7415-C4B6D327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17023D1F-8614-3B94-8623-AB0ABBEBCF34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19F4ECB3-B170-FDF1-5AE5-21DD23A163CD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6243089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E.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시각화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_(2) Line graph</a:t>
            </a: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물의 비율 각 지점에서의 성공 횟수를 그래프화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C96F760D-1AFF-B65B-13C0-C25AE4A22A5C}"/>
              </a:ext>
            </a:extLst>
          </p:cNvPr>
          <p:cNvSpPr txBox="1">
            <a:spLocks/>
          </p:cNvSpPr>
          <p:nvPr/>
        </p:nvSpPr>
        <p:spPr>
          <a:xfrm>
            <a:off x="422031" y="356831"/>
            <a:ext cx="319202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  <a:endParaRPr lang="ko-KR" altLang="en-US" sz="3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" name="부제목 8">
            <a:extLst>
              <a:ext uri="{FF2B5EF4-FFF2-40B4-BE49-F238E27FC236}">
                <a16:creationId xmlns:a16="http://schemas.microsoft.com/office/drawing/2014/main" id="{2F5AC579-7F0C-B55B-D650-A9C09EA3407F}"/>
              </a:ext>
            </a:extLst>
          </p:cNvPr>
          <p:cNvSpPr txBox="1">
            <a:spLocks/>
          </p:cNvSpPr>
          <p:nvPr/>
        </p:nvSpPr>
        <p:spPr>
          <a:xfrm>
            <a:off x="7012179" y="3657413"/>
            <a:ext cx="4367240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데이터를 색상 표기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보라색 성공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~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노란색 실패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2D4314-27D2-964B-48D8-D2214B9FB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44" y="2458069"/>
            <a:ext cx="102774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84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85F44-597D-DFBA-150E-A6EB5D45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DE2CAAE1-EF02-8A05-E7F2-4199387934E3}"/>
              </a:ext>
            </a:extLst>
          </p:cNvPr>
          <p:cNvSpPr/>
          <p:nvPr/>
        </p:nvSpPr>
        <p:spPr>
          <a:xfrm>
            <a:off x="136813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270A55BD-BC49-B35A-027B-7A665EF00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결과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7B5AA1AE-634A-223C-3894-B318089BD52D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파일 실행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4" name="부제목 8">
            <a:extLst>
              <a:ext uri="{FF2B5EF4-FFF2-40B4-BE49-F238E27FC236}">
                <a16:creationId xmlns:a16="http://schemas.microsoft.com/office/drawing/2014/main" id="{EF5D33FE-4348-F1B9-88B9-3FD0B6A44F9D}"/>
              </a:ext>
            </a:extLst>
          </p:cNvPr>
          <p:cNvSpPr txBox="1">
            <a:spLocks/>
          </p:cNvSpPr>
          <p:nvPr/>
        </p:nvSpPr>
        <p:spPr>
          <a:xfrm>
            <a:off x="7714211" y="2286361"/>
            <a:ext cx="3900400" cy="3448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착지 각도 그래프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개의 띠 형태로 안정 각도 나타남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이는 각각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1,2,3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 회전 후 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착지 각도가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에 가까워진 것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또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물의 양이 많아질수록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회전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속도가 급격히 감속해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한 바퀴를 도는데 더 빠른 초기 각속도 필요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그래프의 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우상향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480CE7-3E35-07CF-83D8-98D23DC4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591" y="1575272"/>
            <a:ext cx="6070242" cy="442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17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445E-66E1-A759-149E-233269B7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910632AB-5ED6-A80B-9B69-D9BF31CFDF6C}"/>
              </a:ext>
            </a:extLst>
          </p:cNvPr>
          <p:cNvSpPr/>
          <p:nvPr/>
        </p:nvSpPr>
        <p:spPr>
          <a:xfrm>
            <a:off x="136813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346D8179-55B3-F601-93DE-99968E295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결과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E9F0949C-E9BF-27B7-EFAB-7819897C7185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파일 실행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4" name="부제목 8">
            <a:extLst>
              <a:ext uri="{FF2B5EF4-FFF2-40B4-BE49-F238E27FC236}">
                <a16:creationId xmlns:a16="http://schemas.microsoft.com/office/drawing/2014/main" id="{E82824BA-AA25-A805-E53E-3DB32D3AE43F}"/>
              </a:ext>
            </a:extLst>
          </p:cNvPr>
          <p:cNvSpPr txBox="1">
            <a:spLocks/>
          </p:cNvSpPr>
          <p:nvPr/>
        </p:nvSpPr>
        <p:spPr>
          <a:xfrm>
            <a:off x="4195648" y="5210672"/>
            <a:ext cx="5770984" cy="203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 조건을 모두 반영하여 성공 가능성을 확인한 그래프</a:t>
            </a: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최고점이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0.4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부근에서 보임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17D5DD-ABF2-859B-2D4A-03294C7FC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495" y="1028959"/>
            <a:ext cx="7705290" cy="3869999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6140CA6-55A4-09F4-AE6D-107EE87BE890}"/>
              </a:ext>
            </a:extLst>
          </p:cNvPr>
          <p:cNvSpPr/>
          <p:nvPr/>
        </p:nvSpPr>
        <p:spPr>
          <a:xfrm>
            <a:off x="6027969" y="1336319"/>
            <a:ext cx="847898" cy="68164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64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8BCFE-A246-6A74-CDA1-71FCFFE13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3A202336-098B-E0B1-6B2F-B24EE2950C19}"/>
              </a:ext>
            </a:extLst>
          </p:cNvPr>
          <p:cNvSpPr/>
          <p:nvPr/>
        </p:nvSpPr>
        <p:spPr>
          <a:xfrm>
            <a:off x="136813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0F8FFFE3-9554-9972-8FFC-8F94AB409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7037548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선행 논문과의 비교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E6CFED-5430-D25D-764E-EAA43BD71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632" y="1729503"/>
            <a:ext cx="5141864" cy="3398993"/>
          </a:xfrm>
          <a:prstGeom prst="rect">
            <a:avLst/>
          </a:prstGeom>
        </p:spPr>
      </p:pic>
      <p:sp>
        <p:nvSpPr>
          <p:cNvPr id="11" name="부제목 8">
            <a:extLst>
              <a:ext uri="{FF2B5EF4-FFF2-40B4-BE49-F238E27FC236}">
                <a16:creationId xmlns:a16="http://schemas.microsoft.com/office/drawing/2014/main" id="{8EB01B3E-E00E-EE88-B1D8-B65DC2BE6853}"/>
              </a:ext>
            </a:extLst>
          </p:cNvPr>
          <p:cNvSpPr txBox="1">
            <a:spLocks/>
          </p:cNvSpPr>
          <p:nvPr/>
        </p:nvSpPr>
        <p:spPr>
          <a:xfrm>
            <a:off x="6729588" y="1441391"/>
            <a:ext cx="4788132" cy="5909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논문과의 결과 비교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논문의 최적 조건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회전 감속 최적화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0.41</a:t>
            </a: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무게 중심 최적화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0.18</a:t>
            </a: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So, 0.2~0.4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를 최적 구간으로 함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본 시뮬레이션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최적의 물 비율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0.4</a:t>
            </a: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0.2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에서도 높은 값 보임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374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2600</TotalTime>
  <Words>977</Words>
  <Application>Microsoft Office PowerPoint</Application>
  <PresentationFormat>와이드스크린</PresentationFormat>
  <Paragraphs>175</Paragraphs>
  <Slides>21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나눔스퀘어_ac Bold</vt:lpstr>
      <vt:lpstr>나눔스퀘어_ac ExtraBold</vt:lpstr>
      <vt:lpstr>맑은 고딕</vt:lpstr>
      <vt:lpstr>Arial</vt:lpstr>
      <vt:lpstr>Bell MT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Yedam Lee</dc:creator>
  <cp:lastModifiedBy>Yedam Lee</cp:lastModifiedBy>
  <cp:revision>34</cp:revision>
  <dcterms:created xsi:type="dcterms:W3CDTF">2025-10-30T17:31:40Z</dcterms:created>
  <dcterms:modified xsi:type="dcterms:W3CDTF">2025-12-12T06:40:25Z</dcterms:modified>
</cp:coreProperties>
</file>